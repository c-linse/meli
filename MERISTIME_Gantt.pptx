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Twenty-four month European Fellowship. Three scientific work packages plus training and dissemination.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Bars span the months each task is active; MS labels sit on the bar at the month the milestone falls due.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milestones. MS2 is the decisive test of thermal-time compensation; MS4 gates the second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821623"/>
            <a:ext cx="171831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93"/>
              </a:lnSpc>
              <a:buNone/>
            </a:pPr>
            <a:r>
              <a:rPr lang="en-US" sz="2100" b="1" spc="378" kern="0" dirty="0">
                <a:solidFill>
                  <a:srgbClr val="8C491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SECTION 3.1 · QUALITY AND EFFECTIVENESS OF THE WORK PLAN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333500" y="3616007"/>
            <a:ext cx="17183100" cy="1320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769"/>
              </a:lnSpc>
              <a:buNone/>
            </a:pPr>
            <a:r>
              <a:rPr lang="en-US" sz="9900" spc="-148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MERISTIME</a:t>
            </a:r>
            <a:endParaRPr lang="en-US" sz="9900" dirty="0"/>
          </a:p>
        </p:txBody>
      </p:sp>
      <p:sp>
        <p:nvSpPr>
          <p:cNvPr id="4" name="Text 2"/>
          <p:cNvSpPr/>
          <p:nvPr/>
        </p:nvSpPr>
        <p:spPr>
          <a:xfrm>
            <a:off x="1333500" y="5279390"/>
            <a:ext cx="6865890" cy="107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298"/>
              </a:lnSpc>
              <a:buNone/>
            </a:pPr>
            <a:r>
              <a:rPr lang="en-US" sz="3150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From thermosensing to organ timing in the shoot apical meristem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1333500" y="6852920"/>
            <a:ext cx="1740217" cy="612458"/>
          </a:xfrm>
          <a:prstGeom prst="roundRect">
            <a:avLst>
              <a:gd name="adj" fmla="val 50000"/>
            </a:avLst>
          </a:prstGeom>
          <a:solidFill>
            <a:srgbClr val="FFE1D0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6967220"/>
            <a:ext cx="1283017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60"/>
              </a:lnSpc>
              <a:buNone/>
            </a:pPr>
            <a:r>
              <a:rPr lang="en-US" sz="1950" b="1" dirty="0">
                <a:solidFill>
                  <a:srgbClr val="40231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24 months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3226118" y="6852920"/>
            <a:ext cx="3513296" cy="612458"/>
          </a:xfrm>
          <a:prstGeom prst="roundRect">
            <a:avLst>
              <a:gd name="adj" fmla="val 50000"/>
            </a:avLst>
          </a:prstGeom>
          <a:solidFill>
            <a:srgbClr val="E1EECC"/>
          </a:solidFill>
          <a:ln/>
        </p:spPr>
      </p:sp>
      <p:sp>
        <p:nvSpPr>
          <p:cNvPr id="8" name="Text 6"/>
          <p:cNvSpPr/>
          <p:nvPr/>
        </p:nvSpPr>
        <p:spPr>
          <a:xfrm>
            <a:off x="3492818" y="6967220"/>
            <a:ext cx="3085295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60"/>
              </a:lnSpc>
              <a:buNone/>
            </a:pPr>
            <a:r>
              <a:rPr lang="en-US" sz="1950" b="1" dirty="0">
                <a:solidFill>
                  <a:srgbClr val="272E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3 scientific work packages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891814" y="6852920"/>
            <a:ext cx="1952784" cy="612458"/>
          </a:xfrm>
          <a:prstGeom prst="roundRect">
            <a:avLst>
              <a:gd name="adj" fmla="val 50000"/>
            </a:avLst>
          </a:prstGeom>
          <a:solidFill>
            <a:srgbClr val="EEE7DB"/>
          </a:solidFill>
          <a:ln/>
        </p:spPr>
      </p:sp>
      <p:sp>
        <p:nvSpPr>
          <p:cNvPr id="10" name="Text 8"/>
          <p:cNvSpPr/>
          <p:nvPr/>
        </p:nvSpPr>
        <p:spPr>
          <a:xfrm>
            <a:off x="7158514" y="6967220"/>
            <a:ext cx="1495584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60"/>
              </a:lnSpc>
              <a:buNone/>
            </a:pPr>
            <a:r>
              <a:rPr lang="en-US" sz="195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6 milestones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19100"/>
            <a:ext cx="3173111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3900" spc="-58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Gantt chart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3913346" y="560229"/>
            <a:ext cx="6101921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960"/>
              </a:lnSpc>
              <a:buNone/>
            </a:pPr>
            <a:r>
              <a:rPr lang="en-US" sz="19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Twenty-four months, host laboratory in Neuchâtel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62000" y="1229995"/>
            <a:ext cx="6496050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905"/>
              </a:lnSpc>
              <a:buNone/>
            </a:pPr>
            <a:r>
              <a:rPr lang="en-US" sz="1650" b="1" spc="132" kern="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WORK PACKAGE / TASK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667500" y="1527016"/>
            <a:ext cx="5372100" cy="27781"/>
          </a:xfrm>
          <a:prstGeom prst="rect">
            <a:avLst/>
          </a:prstGeom>
          <a:solidFill>
            <a:srgbClr val="FFC6A5"/>
          </a:solidFill>
          <a:ln/>
        </p:spPr>
      </p:sp>
      <p:sp>
        <p:nvSpPr>
          <p:cNvPr id="6" name="Text 4"/>
          <p:cNvSpPr/>
          <p:nvPr/>
        </p:nvSpPr>
        <p:spPr>
          <a:xfrm>
            <a:off x="6586919" y="1096486"/>
            <a:ext cx="553326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391"/>
              </a:lnSpc>
              <a:buNone/>
            </a:pPr>
            <a:r>
              <a:rPr lang="en-US" sz="1800" b="1" spc="144" kern="0" dirty="0">
                <a:solidFill>
                  <a:srgbClr val="8C491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YEAR 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039600" y="1527016"/>
            <a:ext cx="5372100" cy="27781"/>
          </a:xfrm>
          <a:prstGeom prst="rect">
            <a:avLst/>
          </a:prstGeom>
          <a:solidFill>
            <a:srgbClr val="CCDBB2"/>
          </a:solidFill>
          <a:ln/>
        </p:spPr>
      </p:sp>
      <p:sp>
        <p:nvSpPr>
          <p:cNvPr id="8" name="Text 6"/>
          <p:cNvSpPr/>
          <p:nvPr/>
        </p:nvSpPr>
        <p:spPr>
          <a:xfrm>
            <a:off x="11959019" y="1096486"/>
            <a:ext cx="553326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391"/>
              </a:lnSpc>
              <a:buNone/>
            </a:pPr>
            <a:r>
              <a:rPr lang="en-US" sz="1800" b="1" spc="144" kern="0" dirty="0">
                <a:solidFill>
                  <a:srgbClr val="56633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YEAR 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2089150"/>
            <a:ext cx="16764000" cy="15875"/>
          </a:xfrm>
          <a:prstGeom prst="rect">
            <a:avLst/>
          </a:prstGeom>
          <a:solidFill>
            <a:srgbClr val="DCD3C4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688148"/>
            <a:ext cx="6082665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500" spc="150" kern="0" dirty="0">
                <a:solidFill>
                  <a:srgbClr val="82796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MONTH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1688148"/>
            <a:ext cx="523875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905"/>
              </a:lnSpc>
              <a:buNone/>
            </a:pPr>
            <a:r>
              <a:rPr lang="en-US" sz="16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077075" y="1688148"/>
            <a:ext cx="523875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905"/>
              </a:lnSpc>
              <a:buNone/>
            </a:pPr>
            <a:r>
              <a:rPr lang="en-US" sz="16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524750" y="1688148"/>
            <a:ext cx="523875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905"/>
              </a:lnSpc>
              <a:buNone/>
            </a:pPr>
            <a:r>
              <a:rPr lang="en-US" sz="16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972425" y="1688148"/>
            <a:ext cx="523875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905"/>
              </a:lnSpc>
              <a:buNone/>
            </a:pPr>
            <a:r>
              <a:rPr lang="en-US" sz="16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4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420100" y="1688148"/>
            <a:ext cx="523875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905"/>
              </a:lnSpc>
              <a:buNone/>
            </a:pPr>
            <a:r>
              <a:rPr lang="en-US" sz="16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5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867775" y="1688148"/>
            <a:ext cx="523875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905"/>
              </a:lnSpc>
              <a:buNone/>
            </a:pPr>
            <a:r>
              <a:rPr lang="en-US" sz="16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6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315450" y="1688148"/>
            <a:ext cx="523875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905"/>
              </a:lnSpc>
              <a:buNone/>
            </a:pPr>
            <a:r>
              <a:rPr lang="en-US" sz="16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7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763125" y="1688148"/>
            <a:ext cx="523875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905"/>
              </a:lnSpc>
              <a:buNone/>
            </a:pPr>
            <a:r>
              <a:rPr lang="en-US" sz="16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8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210800" y="1688148"/>
            <a:ext cx="523875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905"/>
              </a:lnSpc>
              <a:buNone/>
            </a:pPr>
            <a:r>
              <a:rPr lang="en-US" sz="16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9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658475" y="1688148"/>
            <a:ext cx="523875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905"/>
              </a:lnSpc>
              <a:buNone/>
            </a:pPr>
            <a:r>
              <a:rPr lang="en-US" sz="16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10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106150" y="1688148"/>
            <a:ext cx="523875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905"/>
              </a:lnSpc>
              <a:buNone/>
            </a:pPr>
            <a:r>
              <a:rPr lang="en-US" sz="16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11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1553825" y="1688148"/>
            <a:ext cx="523875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905"/>
              </a:lnSpc>
              <a:buNone/>
            </a:pPr>
            <a:r>
              <a:rPr lang="en-US" sz="16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12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2001500" y="1688148"/>
            <a:ext cx="523875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905"/>
              </a:lnSpc>
              <a:buNone/>
            </a:pPr>
            <a:r>
              <a:rPr lang="en-US" sz="16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13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2449175" y="1688148"/>
            <a:ext cx="523875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905"/>
              </a:lnSpc>
              <a:buNone/>
            </a:pPr>
            <a:r>
              <a:rPr lang="en-US" sz="16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14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2896850" y="1688148"/>
            <a:ext cx="523875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905"/>
              </a:lnSpc>
              <a:buNone/>
            </a:pPr>
            <a:r>
              <a:rPr lang="en-US" sz="16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15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3344525" y="1688148"/>
            <a:ext cx="523875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905"/>
              </a:lnSpc>
              <a:buNone/>
            </a:pPr>
            <a:r>
              <a:rPr lang="en-US" sz="16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16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3792200" y="1688148"/>
            <a:ext cx="523875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905"/>
              </a:lnSpc>
              <a:buNone/>
            </a:pPr>
            <a:r>
              <a:rPr lang="en-US" sz="16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17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4239875" y="1688148"/>
            <a:ext cx="523875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905"/>
              </a:lnSpc>
              <a:buNone/>
            </a:pPr>
            <a:r>
              <a:rPr lang="en-US" sz="16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18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4687550" y="1688148"/>
            <a:ext cx="523875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905"/>
              </a:lnSpc>
              <a:buNone/>
            </a:pPr>
            <a:r>
              <a:rPr lang="en-US" sz="16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19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5135225" y="1688148"/>
            <a:ext cx="523875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905"/>
              </a:lnSpc>
              <a:buNone/>
            </a:pPr>
            <a:r>
              <a:rPr lang="en-US" sz="16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20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5582900" y="1688148"/>
            <a:ext cx="523875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905"/>
              </a:lnSpc>
              <a:buNone/>
            </a:pPr>
            <a:r>
              <a:rPr lang="en-US" sz="16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21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6030575" y="1688148"/>
            <a:ext cx="523875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905"/>
              </a:lnSpc>
              <a:buNone/>
            </a:pPr>
            <a:r>
              <a:rPr lang="en-US" sz="16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22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6478250" y="1688148"/>
            <a:ext cx="523875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905"/>
              </a:lnSpc>
              <a:buNone/>
            </a:pPr>
            <a:r>
              <a:rPr lang="en-US" sz="16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23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6925925" y="1688148"/>
            <a:ext cx="523875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905"/>
              </a:lnSpc>
              <a:buNone/>
            </a:pPr>
            <a:r>
              <a:rPr lang="en-US" sz="16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24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762000" y="2105025"/>
            <a:ext cx="16764000" cy="597408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36" name="Text 34"/>
          <p:cNvSpPr/>
          <p:nvPr/>
        </p:nvSpPr>
        <p:spPr>
          <a:xfrm>
            <a:off x="762000" y="2219325"/>
            <a:ext cx="626745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493"/>
              </a:lnSpc>
              <a:buNone/>
            </a:pPr>
            <a:r>
              <a:rPr lang="en-US" sz="1950" dirty="0">
                <a:solidFill>
                  <a:srgbClr val="8C491A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WP1 · Temperature response of the meristem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6667500" y="2396966"/>
            <a:ext cx="10744200" cy="28575"/>
          </a:xfrm>
          <a:prstGeom prst="roundRect">
            <a:avLst>
              <a:gd name="adj" fmla="val 50000"/>
            </a:avLst>
          </a:prstGeom>
          <a:solidFill>
            <a:srgbClr val="FFE1D0"/>
          </a:solidFill>
          <a:ln/>
        </p:spPr>
      </p:sp>
      <p:sp>
        <p:nvSpPr>
          <p:cNvPr id="38" name="Text 36"/>
          <p:cNvSpPr/>
          <p:nvPr/>
        </p:nvSpPr>
        <p:spPr>
          <a:xfrm>
            <a:off x="762000" y="2669857"/>
            <a:ext cx="62674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1800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1.1 Plastochron and phyllotaxis against thermal time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667500" y="2707957"/>
            <a:ext cx="4476750" cy="209550"/>
          </a:xfrm>
          <a:prstGeom prst="roundRect">
            <a:avLst>
              <a:gd name="adj" fmla="val 50000"/>
            </a:avLst>
          </a:prstGeom>
          <a:solidFill>
            <a:srgbClr val="D67F48"/>
          </a:solidFill>
          <a:ln/>
        </p:spPr>
      </p:sp>
      <p:sp>
        <p:nvSpPr>
          <p:cNvPr id="40" name="Shape 38"/>
          <p:cNvSpPr/>
          <p:nvPr/>
        </p:nvSpPr>
        <p:spPr>
          <a:xfrm>
            <a:off x="10595768" y="2630170"/>
            <a:ext cx="649446" cy="365125"/>
          </a:xfrm>
          <a:prstGeom prst="roundRect">
            <a:avLst>
              <a:gd name="adj" fmla="val 50000"/>
            </a:avLst>
          </a:prstGeom>
          <a:solidFill>
            <a:srgbClr val="F5EAD8"/>
          </a:solidFill>
          <a:ln w="15875">
            <a:solidFill>
              <a:srgbClr val="C0B6A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725943" y="2665095"/>
            <a:ext cx="465296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5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MS2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62000" y="3012757"/>
            <a:ext cx="62674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1800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1.2 Live imaging of meristem and auxin reporters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7562850" y="3050857"/>
            <a:ext cx="5372100" cy="209550"/>
          </a:xfrm>
          <a:prstGeom prst="roundRect">
            <a:avLst>
              <a:gd name="adj" fmla="val 50000"/>
            </a:avLst>
          </a:prstGeom>
          <a:solidFill>
            <a:srgbClr val="D67F48"/>
          </a:solidFill>
          <a:ln/>
        </p:spPr>
      </p:sp>
      <p:sp>
        <p:nvSpPr>
          <p:cNvPr id="44" name="Shape 42"/>
          <p:cNvSpPr/>
          <p:nvPr/>
        </p:nvSpPr>
        <p:spPr>
          <a:xfrm>
            <a:off x="8819991" y="2973070"/>
            <a:ext cx="619442" cy="365125"/>
          </a:xfrm>
          <a:prstGeom prst="roundRect">
            <a:avLst>
              <a:gd name="adj" fmla="val 50000"/>
            </a:avLst>
          </a:prstGeom>
          <a:solidFill>
            <a:srgbClr val="F5EAD8"/>
          </a:solidFill>
          <a:ln w="15875">
            <a:solidFill>
              <a:srgbClr val="C0B6A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50166" y="3007995"/>
            <a:ext cx="435292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5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MS1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62000" y="3422332"/>
            <a:ext cx="626745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493"/>
              </a:lnSpc>
              <a:buNone/>
            </a:pPr>
            <a:r>
              <a:rPr lang="en-US" sz="1950" dirty="0">
                <a:solidFill>
                  <a:srgbClr val="56633F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WP2 · phyB and redox/NO signalling</a:t>
            </a:r>
            <a:endParaRPr lang="en-US" sz="1950" dirty="0"/>
          </a:p>
        </p:txBody>
      </p:sp>
      <p:sp>
        <p:nvSpPr>
          <p:cNvPr id="47" name="Shape 45"/>
          <p:cNvSpPr/>
          <p:nvPr/>
        </p:nvSpPr>
        <p:spPr>
          <a:xfrm>
            <a:off x="6667500" y="3599974"/>
            <a:ext cx="10744200" cy="28575"/>
          </a:xfrm>
          <a:prstGeom prst="roundRect">
            <a:avLst>
              <a:gd name="adj" fmla="val 50000"/>
            </a:avLst>
          </a:prstGeom>
          <a:solidFill>
            <a:srgbClr val="E1EECC"/>
          </a:solidFill>
          <a:ln/>
        </p:spPr>
      </p:sp>
      <p:sp>
        <p:nvSpPr>
          <p:cNvPr id="48" name="Text 46"/>
          <p:cNvSpPr/>
          <p:nvPr/>
        </p:nvSpPr>
        <p:spPr>
          <a:xfrm>
            <a:off x="762000" y="3872865"/>
            <a:ext cx="62674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1800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2.1 Temperature and redox compartmentalisation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8458200" y="3910965"/>
            <a:ext cx="4924425" cy="209550"/>
          </a:xfrm>
          <a:prstGeom prst="roundRect">
            <a:avLst>
              <a:gd name="adj" fmla="val 50000"/>
            </a:avLst>
          </a:prstGeom>
          <a:solidFill>
            <a:srgbClr val="8FA073"/>
          </a:solidFill>
          <a:ln/>
        </p:spPr>
      </p:sp>
      <p:sp>
        <p:nvSpPr>
          <p:cNvPr id="50" name="Shape 48"/>
          <p:cNvSpPr/>
          <p:nvPr/>
        </p:nvSpPr>
        <p:spPr>
          <a:xfrm>
            <a:off x="12836366" y="3833178"/>
            <a:ext cx="645001" cy="365125"/>
          </a:xfrm>
          <a:prstGeom prst="roundRect">
            <a:avLst>
              <a:gd name="adj" fmla="val 50000"/>
            </a:avLst>
          </a:prstGeom>
          <a:solidFill>
            <a:srgbClr val="F5EAD8"/>
          </a:solidFill>
          <a:ln w="15875">
            <a:solidFill>
              <a:srgbClr val="C0B6A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2966542" y="3868103"/>
            <a:ext cx="46085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5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MS3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762000" y="4215765"/>
            <a:ext cx="62674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1800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2.2 Nitric oxide as a candidate temperature transducer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9353550" y="4253865"/>
            <a:ext cx="5819775" cy="209550"/>
          </a:xfrm>
          <a:prstGeom prst="roundRect">
            <a:avLst>
              <a:gd name="adj" fmla="val 50000"/>
            </a:avLst>
          </a:prstGeom>
          <a:solidFill>
            <a:srgbClr val="8FA073"/>
          </a:solidFill>
          <a:ln/>
        </p:spPr>
      </p:sp>
      <p:sp>
        <p:nvSpPr>
          <p:cNvPr id="54" name="Text 52"/>
          <p:cNvSpPr/>
          <p:nvPr/>
        </p:nvSpPr>
        <p:spPr>
          <a:xfrm>
            <a:off x="762000" y="4625340"/>
            <a:ext cx="6267450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493"/>
              </a:lnSpc>
              <a:buNone/>
            </a:pPr>
            <a:r>
              <a:rPr lang="en-US" sz="1950" dirty="0">
                <a:solidFill>
                  <a:srgbClr val="8C491A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WP3 · Single-cell transcriptomics</a:t>
            </a:r>
            <a:endParaRPr lang="en-US" sz="1950" dirty="0"/>
          </a:p>
        </p:txBody>
      </p:sp>
      <p:sp>
        <p:nvSpPr>
          <p:cNvPr id="55" name="Shape 53"/>
          <p:cNvSpPr/>
          <p:nvPr/>
        </p:nvSpPr>
        <p:spPr>
          <a:xfrm>
            <a:off x="6667500" y="4802981"/>
            <a:ext cx="10744200" cy="28575"/>
          </a:xfrm>
          <a:prstGeom prst="roundRect">
            <a:avLst>
              <a:gd name="adj" fmla="val 50000"/>
            </a:avLst>
          </a:prstGeom>
          <a:solidFill>
            <a:srgbClr val="FFE1D0"/>
          </a:solidFill>
          <a:ln/>
        </p:spPr>
      </p:sp>
      <p:sp>
        <p:nvSpPr>
          <p:cNvPr id="56" name="Text 54"/>
          <p:cNvSpPr/>
          <p:nvPr/>
        </p:nvSpPr>
        <p:spPr>
          <a:xfrm>
            <a:off x="762000" y="5047298"/>
            <a:ext cx="585406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1800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3.1 Factorial temperature × thermal-time design, snRNA-seq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1591925" y="5228273"/>
            <a:ext cx="3133725" cy="209550"/>
          </a:xfrm>
          <a:prstGeom prst="roundRect">
            <a:avLst>
              <a:gd name="adj" fmla="val 50000"/>
            </a:avLst>
          </a:prstGeom>
          <a:solidFill>
            <a:srgbClr val="D67F48"/>
          </a:solidFill>
          <a:ln/>
        </p:spPr>
      </p:sp>
      <p:sp>
        <p:nvSpPr>
          <p:cNvPr id="58" name="Shape 56"/>
          <p:cNvSpPr/>
          <p:nvPr/>
        </p:nvSpPr>
        <p:spPr>
          <a:xfrm>
            <a:off x="14171930" y="5150485"/>
            <a:ext cx="659765" cy="365125"/>
          </a:xfrm>
          <a:prstGeom prst="roundRect">
            <a:avLst>
              <a:gd name="adj" fmla="val 50000"/>
            </a:avLst>
          </a:prstGeom>
          <a:solidFill>
            <a:srgbClr val="F5EAD8"/>
          </a:solidFill>
          <a:ln w="15875">
            <a:solidFill>
              <a:srgbClr val="C0B6A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4302105" y="5185410"/>
            <a:ext cx="475615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5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MS4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762000" y="5647373"/>
            <a:ext cx="62674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1800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3.2 Analysis and candidate networks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3382625" y="5685473"/>
            <a:ext cx="3581400" cy="209550"/>
          </a:xfrm>
          <a:prstGeom prst="roundRect">
            <a:avLst>
              <a:gd name="adj" fmla="val 50000"/>
            </a:avLst>
          </a:prstGeom>
          <a:solidFill>
            <a:srgbClr val="D67F48"/>
          </a:solidFill>
          <a:ln/>
        </p:spPr>
      </p:sp>
      <p:sp>
        <p:nvSpPr>
          <p:cNvPr id="62" name="Text 60"/>
          <p:cNvSpPr/>
          <p:nvPr/>
        </p:nvSpPr>
        <p:spPr>
          <a:xfrm>
            <a:off x="762000" y="6056948"/>
            <a:ext cx="6267450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493"/>
              </a:lnSpc>
              <a:buNone/>
            </a:pPr>
            <a:r>
              <a:rPr lang="en-US" sz="1950" dirty="0">
                <a:solidFill>
                  <a:srgbClr val="645C50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WP4 · Training, dissemination, management</a:t>
            </a:r>
            <a:endParaRPr lang="en-US" sz="1950" dirty="0"/>
          </a:p>
        </p:txBody>
      </p:sp>
      <p:sp>
        <p:nvSpPr>
          <p:cNvPr id="63" name="Shape 61"/>
          <p:cNvSpPr/>
          <p:nvPr/>
        </p:nvSpPr>
        <p:spPr>
          <a:xfrm>
            <a:off x="6667500" y="6234589"/>
            <a:ext cx="10744200" cy="28575"/>
          </a:xfrm>
          <a:prstGeom prst="roundRect">
            <a:avLst>
              <a:gd name="adj" fmla="val 50000"/>
            </a:avLst>
          </a:prstGeom>
          <a:solidFill>
            <a:srgbClr val="DCD3C4"/>
          </a:solidFill>
          <a:ln/>
        </p:spPr>
      </p:sp>
      <p:sp>
        <p:nvSpPr>
          <p:cNvPr id="64" name="Text 62"/>
          <p:cNvSpPr/>
          <p:nvPr/>
        </p:nvSpPr>
        <p:spPr>
          <a:xfrm>
            <a:off x="762000" y="6478905"/>
            <a:ext cx="585406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1800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4.1 Career Development Plan and FAIR Data Management Plan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6667500" y="6659880"/>
            <a:ext cx="1343025" cy="209550"/>
          </a:xfrm>
          <a:prstGeom prst="roundRect">
            <a:avLst>
              <a:gd name="adj" fmla="val 50000"/>
            </a:avLst>
          </a:prstGeom>
          <a:solidFill>
            <a:srgbClr val="A19786"/>
          </a:solidFill>
          <a:ln/>
        </p:spPr>
      </p:sp>
      <p:sp>
        <p:nvSpPr>
          <p:cNvPr id="66" name="Shape 64"/>
          <p:cNvSpPr/>
          <p:nvPr/>
        </p:nvSpPr>
        <p:spPr>
          <a:xfrm>
            <a:off x="11591925" y="6659880"/>
            <a:ext cx="895350" cy="209550"/>
          </a:xfrm>
          <a:prstGeom prst="roundRect">
            <a:avLst>
              <a:gd name="adj" fmla="val 50000"/>
            </a:avLst>
          </a:prstGeom>
          <a:solidFill>
            <a:srgbClr val="C0B6A5"/>
          </a:solidFill>
          <a:ln/>
        </p:spPr>
      </p:sp>
      <p:sp>
        <p:nvSpPr>
          <p:cNvPr id="67" name="Shape 65"/>
          <p:cNvSpPr/>
          <p:nvPr/>
        </p:nvSpPr>
        <p:spPr>
          <a:xfrm>
            <a:off x="16068675" y="6659880"/>
            <a:ext cx="895350" cy="209550"/>
          </a:xfrm>
          <a:prstGeom prst="roundRect">
            <a:avLst>
              <a:gd name="adj" fmla="val 50000"/>
            </a:avLst>
          </a:prstGeom>
          <a:solidFill>
            <a:srgbClr val="C0B6A5"/>
          </a:solidFill>
          <a:ln/>
        </p:spPr>
      </p:sp>
      <p:sp>
        <p:nvSpPr>
          <p:cNvPr id="68" name="Text 66"/>
          <p:cNvSpPr/>
          <p:nvPr/>
        </p:nvSpPr>
        <p:spPr>
          <a:xfrm>
            <a:off x="762000" y="7078980"/>
            <a:ext cx="62674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1800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4.2 Training, conferences and outreach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6667500" y="7117080"/>
            <a:ext cx="10296525" cy="209550"/>
          </a:xfrm>
          <a:prstGeom prst="roundRect">
            <a:avLst>
              <a:gd name="adj" fmla="val 50000"/>
            </a:avLst>
          </a:prstGeom>
          <a:solidFill>
            <a:srgbClr val="C0B6A5"/>
          </a:solidFill>
          <a:ln/>
        </p:spPr>
      </p:sp>
      <p:sp>
        <p:nvSpPr>
          <p:cNvPr id="70" name="Text 68"/>
          <p:cNvSpPr/>
          <p:nvPr/>
        </p:nvSpPr>
        <p:spPr>
          <a:xfrm>
            <a:off x="762000" y="7421880"/>
            <a:ext cx="62674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1800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4.3 Co-supervision of a master's student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12039600" y="7459980"/>
            <a:ext cx="4029075" cy="209550"/>
          </a:xfrm>
          <a:prstGeom prst="roundRect">
            <a:avLst>
              <a:gd name="adj" fmla="val 50000"/>
            </a:avLst>
          </a:prstGeom>
          <a:solidFill>
            <a:srgbClr val="C0B6A5"/>
          </a:solidFill>
          <a:ln/>
        </p:spPr>
      </p:sp>
      <p:sp>
        <p:nvSpPr>
          <p:cNvPr id="72" name="Text 70"/>
          <p:cNvSpPr/>
          <p:nvPr/>
        </p:nvSpPr>
        <p:spPr>
          <a:xfrm>
            <a:off x="762000" y="7764780"/>
            <a:ext cx="62674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1800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4.4 Preprints, open access, data deposition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2487275" y="7802880"/>
            <a:ext cx="4476750" cy="209550"/>
          </a:xfrm>
          <a:prstGeom prst="roundRect">
            <a:avLst>
              <a:gd name="adj" fmla="val 50000"/>
            </a:avLst>
          </a:prstGeom>
          <a:solidFill>
            <a:srgbClr val="A19786"/>
          </a:solidFill>
          <a:ln/>
        </p:spPr>
      </p:sp>
      <p:sp>
        <p:nvSpPr>
          <p:cNvPr id="74" name="Shape 72"/>
          <p:cNvSpPr/>
          <p:nvPr/>
        </p:nvSpPr>
        <p:spPr>
          <a:xfrm>
            <a:off x="14177010" y="7725092"/>
            <a:ext cx="649764" cy="365125"/>
          </a:xfrm>
          <a:prstGeom prst="roundRect">
            <a:avLst>
              <a:gd name="adj" fmla="val 50000"/>
            </a:avLst>
          </a:prstGeom>
          <a:solidFill>
            <a:srgbClr val="F5EAD8"/>
          </a:solidFill>
          <a:ln w="15875">
            <a:solidFill>
              <a:srgbClr val="C0B6A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4307185" y="7760017"/>
            <a:ext cx="465614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5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MS5</a:t>
            </a:r>
            <a:endParaRPr lang="en-US" sz="1500" dirty="0"/>
          </a:p>
        </p:txBody>
      </p:sp>
      <p:sp>
        <p:nvSpPr>
          <p:cNvPr id="76" name="Shape 74"/>
          <p:cNvSpPr/>
          <p:nvPr/>
        </p:nvSpPr>
        <p:spPr>
          <a:xfrm>
            <a:off x="16314420" y="7725092"/>
            <a:ext cx="649605" cy="365125"/>
          </a:xfrm>
          <a:prstGeom prst="roundRect">
            <a:avLst>
              <a:gd name="adj" fmla="val 50000"/>
            </a:avLst>
          </a:prstGeom>
          <a:solidFill>
            <a:srgbClr val="F5EAD8"/>
          </a:solidFill>
          <a:ln w="15875">
            <a:solidFill>
              <a:srgbClr val="C0B6A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6444595" y="7760017"/>
            <a:ext cx="465455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5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MS6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293620"/>
            <a:ext cx="171831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3900" spc="-58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Milestones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333500" y="3284220"/>
            <a:ext cx="822483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91"/>
              </a:lnSpc>
              <a:buNone/>
            </a:pPr>
            <a:r>
              <a:rPr lang="en-US" sz="1800" b="1" spc="108" kern="0" dirty="0">
                <a:solidFill>
                  <a:srgbClr val="8C491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MS1 · MONTH 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33500" y="3714750"/>
            <a:ext cx="822483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37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Live-imaging under controlled temperature validated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477375" y="3284220"/>
            <a:ext cx="822483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91"/>
              </a:lnSpc>
              <a:buNone/>
            </a:pPr>
            <a:r>
              <a:rPr lang="en-US" sz="1800" b="1" spc="108" kern="0" dirty="0">
                <a:solidFill>
                  <a:srgbClr val="8C491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MS2 · MONTH 10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477375" y="3714750"/>
            <a:ext cx="822483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37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Thermal-time plastochron dataset, wild type and phyB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33500" y="4410075"/>
            <a:ext cx="822483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91"/>
              </a:lnSpc>
              <a:buNone/>
            </a:pPr>
            <a:r>
              <a:rPr lang="en-US" sz="1800" b="1" spc="108" kern="0" dirty="0">
                <a:solidFill>
                  <a:srgbClr val="56633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MS3 · MONTH 15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33500" y="4840605"/>
            <a:ext cx="822483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37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Redox/NO map across temperatures and in phyB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477375" y="4410075"/>
            <a:ext cx="822483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91"/>
              </a:lnSpc>
              <a:buNone/>
            </a:pPr>
            <a:r>
              <a:rPr lang="en-US" sz="1800" b="1" spc="108" kern="0" dirty="0">
                <a:solidFill>
                  <a:srgbClr val="8C491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MS4 · MONTH 18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77375" y="4840605"/>
            <a:ext cx="822483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37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Single-nucleus dataset generated and QC-passed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333500" y="5535930"/>
            <a:ext cx="822483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91"/>
              </a:lnSpc>
              <a:buNone/>
            </a:pPr>
            <a:r>
              <a:rPr lang="en-US" sz="1800" b="1" spc="108" kern="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MS5 · MONTH 18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33500" y="5966460"/>
            <a:ext cx="822483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37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First manuscript submitted (WP1 + WP2)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477375" y="5535930"/>
            <a:ext cx="822483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91"/>
              </a:lnSpc>
              <a:buNone/>
            </a:pPr>
            <a:r>
              <a:rPr lang="en-US" sz="1800" b="1" spc="108" kern="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MS6 · MONTH 23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477375" y="5966460"/>
            <a:ext cx="822483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37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Second manuscript submitted (WP3), data deposited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333500" y="6833235"/>
            <a:ext cx="12327207" cy="1198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296"/>
              </a:lnSpc>
              <a:buNone/>
            </a:pPr>
            <a:r>
              <a:rPr lang="en-US" sz="2100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WP1 and WP2 overlap deliberately: the redox and NO perturbations of WP2 are read on the thermal-time basis established in Task 1.1, and both feed the first manuscript. WP3 starts once the imaging phenotypes define the thermal-time points to be sampled.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2026-08-31T21:46:34Z</dcterms:created>
  <dcterms:modified xsi:type="dcterms:W3CDTF">2026-08-31T21:46:34Z</dcterms:modified>
</cp:coreProperties>
</file>